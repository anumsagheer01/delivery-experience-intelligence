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Delivery Experience</a:t>
            </a:r>
            <a:br/>
            <a:r>
              <a:t>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56616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Spot delivery trouble early. Check the photo evidence.</a:t>
            </a:r>
            <a:br/>
            <a:r>
              <a:t>Decide what to do next, before the customer complains.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1206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Anum Sagheer  |  End-to-end data science on Google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7607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Real data. Real cloud. Every number measured.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What is inside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731520" y="1463040"/>
            <a:ext cx="5120640" cy="10058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20242B"/>
                </a:solidFill>
              </a:defRPr>
            </a:pPr>
            <a:r>
              <a:rPr b="1" sz="1900"/>
              <a:t>The problem</a:t>
            </a:r>
            <a:br/>
            <a:r>
              <a:t>Why late deliveries cost double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6400800" y="1463040"/>
            <a:ext cx="5120640" cy="10058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20242B"/>
                </a:solidFill>
              </a:defRPr>
            </a:pPr>
            <a:r>
              <a:rPr b="1" sz="1900"/>
              <a:t>How it works</a:t>
            </a:r>
            <a:br/>
            <a:r>
              <a:t>Six steps from order to decision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731520" y="2697480"/>
            <a:ext cx="5120640" cy="10058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20242B"/>
                </a:solidFill>
              </a:defRPr>
            </a:pPr>
            <a:r>
              <a:rPr b="1" sz="1900"/>
              <a:t>Risk models</a:t>
            </a:r>
            <a:br/>
            <a:r>
              <a:t>Predicting lateness and bad reviews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6400800" y="2697480"/>
            <a:ext cx="5120640" cy="10058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20242B"/>
                </a:solidFill>
              </a:defRPr>
            </a:pPr>
            <a:r>
              <a:rPr b="1" sz="1900"/>
              <a:t>Computer vision</a:t>
            </a:r>
            <a:br/>
            <a:r>
              <a:t>99.6% package detection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731520" y="3931920"/>
            <a:ext cx="5120640" cy="10058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20242B"/>
                </a:solidFill>
              </a:defRPr>
            </a:pPr>
            <a:r>
              <a:rPr b="1" sz="1900"/>
              <a:t>Streaming + agent</a:t>
            </a:r>
            <a:br/>
            <a:r>
              <a:t>6,235 events/sec, 500 verified decisions</a:t>
            </a:r>
          </a:p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6400800" y="3931920"/>
            <a:ext cx="5120640" cy="10058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20242B"/>
                </a:solidFill>
              </a:defRPr>
            </a:pPr>
            <a:r>
              <a:rPr b="1" sz="1900"/>
              <a:t>A/B testing</a:t>
            </a:r>
            <a:br/>
            <a:r>
              <a:t>A properly designed experiment</a:t>
            </a:r>
          </a:p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731520" y="5166360"/>
            <a:ext cx="5120640" cy="10058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20242B"/>
                </a:solidFill>
              </a:defRPr>
            </a:pPr>
            <a:r>
              <a:rPr b="1" sz="1900"/>
              <a:t>Tech stack</a:t>
            </a:r>
            <a:br/>
            <a:r>
              <a:t>GCP, ML, and engineering</a:t>
            </a:r>
          </a:p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6400800" y="5166360"/>
            <a:ext cx="5120640" cy="100584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0">
                <a:solidFill>
                  <a:srgbClr val="20242B"/>
                </a:solidFill>
              </a:defRPr>
            </a:pPr>
            <a:r>
              <a:rPr b="1" sz="1900"/>
              <a:t>Honest limits</a:t>
            </a:r>
            <a:br/>
            <a:r>
              <a:t>What is real and what is 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</a:defRPr>
            </a:pPr>
            <a:r>
              <a:t>Click any card to jump to that section.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0242B"/>
                </a:solidFill>
              </a:rPr>
              <a:t>Late deliveries cost twice: the redelivery, then the customer's trust.</a:t>
            </a:r>
          </a:p>
          <a:p>
            <a:pPr lvl="1">
              <a:spcAft>
                <a:spcPts val="1400"/>
              </a:spcAft>
            </a:pPr>
            <a:r>
              <a:rPr sz="1600">
                <a:solidFill>
                  <a:srgbClr val="5F6368"/>
                </a:solidFill>
              </a:rPr>
              <a:t>Most companies learn about failures from angry reviews. That is the most expensive feedback loop possible.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0242B"/>
                </a:solidFill>
              </a:rPr>
              <a:t>This platform moves detection earlier.</a:t>
            </a:r>
          </a:p>
          <a:p>
            <a:pPr lvl="1">
              <a:spcAft>
                <a:spcPts val="1400"/>
              </a:spcAft>
            </a:pPr>
            <a:r>
              <a:rPr sz="1600">
                <a:solidFill>
                  <a:srgbClr val="5F6368"/>
                </a:solidFill>
              </a:rPr>
              <a:t>Predict risk at purchase time. Watch events stream in. Check the delivery photo. Draft the right response, before the customer has to complain.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0242B"/>
                </a:solidFill>
              </a:rPr>
              <a:t>Built on 100% real public data, deployed on real Google Cloud.</a:t>
            </a:r>
          </a:p>
          <a:p>
            <a:pPr lvl="1">
              <a:spcAft>
                <a:spcPts val="1400"/>
              </a:spcAft>
            </a:pPr>
            <a:r>
              <a:rPr sz="1600">
                <a:solidFill>
                  <a:srgbClr val="5F6368"/>
                </a:solidFill>
              </a:rPr>
              <a:t>Olist orders, Amazon routes, OpenStreetMap, Open Images. Nothing invented.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10728655" y="6217920"/>
            <a:ext cx="1188720" cy="4114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5F6368"/>
                </a:solidFill>
              </a:defRPr>
            </a:pPr>
            <a:r>
              <a:t>Home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How it works: six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1783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" y="1783080"/>
            <a:ext cx="594360" cy="59436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0242B"/>
                </a:solidFill>
              </a:defRPr>
            </a:pPr>
            <a:r>
              <a:t>Orders stream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1600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</a:defRPr>
            </a:pPr>
            <a:r>
              <a:t>Real order events flow through Pub/Sub into BigQuery.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95728" y="1554480"/>
            <a:ext cx="1783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90088" y="1783080"/>
            <a:ext cx="594360" cy="5943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25603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0242B"/>
                </a:solidFill>
              </a:defRPr>
            </a:pPr>
            <a:r>
              <a:t>Risk is scored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3200400"/>
            <a:ext cx="1600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</a:defRPr>
            </a:pPr>
            <a:r>
              <a:t>Two classifiers predict lateness and low reviews from purchase-time data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554480"/>
            <a:ext cx="1783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28616" y="1783080"/>
            <a:ext cx="594360" cy="594360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25603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0242B"/>
                </a:solidFill>
              </a:defRPr>
            </a:pPr>
            <a:r>
              <a:t>Photos are checked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3200400"/>
            <a:ext cx="1600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</a:defRPr>
            </a:pPr>
            <a:r>
              <a:t>Blur check (free), then AI classifier, then Gemini for hard cases.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1554480"/>
            <a:ext cx="1783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67144" y="1783080"/>
            <a:ext cx="594360" cy="5943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5603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0242B"/>
                </a:solidFill>
              </a:defRPr>
            </a:pPr>
            <a:r>
              <a:t>The agent decides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3200400"/>
            <a:ext cx="1600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</a:defRPr>
            </a:pPr>
            <a:r>
              <a:t>A written policy weighs every signal. Drafts a message or escalates. Never auto-sends.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11312" y="1554480"/>
            <a:ext cx="1783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05672" y="1783080"/>
            <a:ext cx="594360" cy="5943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5603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0242B"/>
                </a:solidFill>
              </a:defRPr>
            </a:pPr>
            <a:r>
              <a:t>Everything is audited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200400"/>
            <a:ext cx="1600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</a:defRPr>
            </a:pPr>
            <a:r>
              <a:t>All 500 cloud decisions independently re-verified: 500/500 matched.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1554480"/>
            <a:ext cx="1783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744200" y="1783080"/>
            <a:ext cx="594360" cy="59436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25603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0242B"/>
                </a:solidFill>
              </a:defRPr>
            </a:pPr>
            <a:r>
              <a:t>Experiments done right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3200400"/>
            <a:ext cx="1600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368"/>
                </a:solidFill>
              </a:defRPr>
            </a:pPr>
            <a:r>
              <a:t>A/B test designed with real power analysis before anyone claims an uplift.</a:t>
            </a:r>
          </a:p>
        </p:txBody>
      </p:sp>
      <p:sp>
        <p:nvSpPr>
          <p:cNvPr id="27" name="Rounded Rectangle 26">
            <a:hlinkClick action="ppaction://hlinksldjump" r:id="rId2"/>
          </p:cNvPr>
          <p:cNvSpPr/>
          <p:nvPr/>
        </p:nvSpPr>
        <p:spPr>
          <a:xfrm>
            <a:off x="10728655" y="6217920"/>
            <a:ext cx="1188720" cy="4114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5F6368"/>
                </a:solidFill>
              </a:defRPr>
            </a:pPr>
            <a:r>
              <a:t>Home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Risk models: which orders are in trouble?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F6368"/>
                </a:solidFill>
              </a:defRPr>
            </a:pPr>
            <a:r>
              <a:t>Two classifiers using only purchase-time features. Strict temporal splits, no peeking at the future.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19456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48768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34A8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>
                    <a:solidFill>
                      <a:srgbClr val="34A8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34A8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What it means</a:t>
                      </a:r>
                    </a:p>
                  </a:txBody>
                  <a:tcPr>
                    <a:solidFill>
                      <a:srgbClr val="34A853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42B"/>
                          </a:solidFill>
                        </a:rPr>
                        <a:t>Late delivery (HGB)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42B"/>
                          </a:solidFill>
                        </a:rPr>
                        <a:t>Local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42B"/>
                          </a:solidFill>
                        </a:rPr>
                        <a:t>0.649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42B"/>
                          </a:solidFill>
                        </a:rPr>
                        <a:t>Ranks late orders above on-time ones 65% of the time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42B"/>
                          </a:solidFill>
                        </a:rPr>
                        <a:t>Late delivery (BQML)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42B"/>
                          </a:solidFill>
                        </a:rPr>
                        <a:t>BigQuery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42B"/>
                          </a:solidFill>
                        </a:rPr>
                        <a:t>0.616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42B"/>
                          </a:solidFill>
                        </a:rPr>
                        <a:t>Same task, trained where the data lives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42B"/>
                          </a:solidFill>
                        </a:rPr>
                        <a:t>Low review (HGB)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42B"/>
                          </a:solidFill>
                        </a:rPr>
                        <a:t>Local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42B"/>
                          </a:solidFill>
                        </a:rPr>
                        <a:t>0.601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42B"/>
                          </a:solidFill>
                        </a:rPr>
                        <a:t>Predicts 1 to 2 star reviews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42B"/>
                          </a:solidFill>
                        </a:rPr>
                        <a:t>Low review (BQML)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42B"/>
                          </a:solidFill>
                        </a:rPr>
                        <a:t>BigQuery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42B"/>
                          </a:solidFill>
                        </a:rPr>
                        <a:t>0.575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42B"/>
                          </a:solidFill>
                        </a:rPr>
                        <a:t>Cloud twin of the local model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</a:defRPr>
            </a:pPr>
            <a:r>
              <a:t>Honest context: these are modest scores. Delivery lateness is hard to predict from purchase data alone. The value is the methodology: temporal splits, leakage controls, calibrated thresholds.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10728655" y="6217920"/>
            <a:ext cx="1188720" cy="4114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5F6368"/>
                </a:solidFill>
              </a:defRPr>
            </a:pPr>
            <a:r>
              <a:t>Home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Computer vision: is the package in the photo?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0242B"/>
                </a:solidFill>
              </a:defRPr>
            </a:pPr>
            <a:r>
              <a:t>Trained on 4,712 real photos with human-drawn annotations.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0242B"/>
                </a:solidFill>
              </a:rPr>
              <a:t>•  Test accuracy: 99.6% (469 of 471 held-out photos)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0242B"/>
                </a:solidFill>
              </a:rPr>
              <a:t>•  Package precision: 1.0000, never cried wolf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0242B"/>
                </a:solidFill>
              </a:rPr>
              <a:t>•  Package recall: 0.9910, missed 2 of 221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0242B"/>
                </a:solidFill>
              </a:rPr>
              <a:t>•  Cost-ordered cascade: free blur check, then AI, then Gemini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0242B"/>
                </a:solidFill>
              </a:rPr>
              <a:t>•  Batch prediction only, no expensive always-on endpoint</a:t>
            </a:r>
          </a:p>
        </p:txBody>
      </p:sp>
      <p:pic>
        <p:nvPicPr>
          <p:cNvPr id="5" name="Picture 4" descr="cv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03520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368"/>
                </a:solidFill>
              </a:defRPr>
            </a:pPr>
            <a:r>
              <a:t>Real test photos with the model's actual predictions and confidence scores.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10728655" y="6217920"/>
            <a:ext cx="1188720" cy="4114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5F6368"/>
                </a:solidFill>
              </a:defRPr>
            </a:pPr>
            <a:r>
              <a:t>Home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Streaming + intervention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0242B"/>
                </a:solidFill>
              </a:rPr>
              <a:t>Pub/Sub streaming: 6,235 events per second, zero message loss.</a:t>
            </a:r>
          </a:p>
          <a:p>
            <a:pPr lvl="1">
              <a:spcAft>
                <a:spcPts val="1400"/>
              </a:spcAft>
            </a:pPr>
            <a:r>
              <a:rPr sz="1600">
                <a:solidFill>
                  <a:srgbClr val="5F6368"/>
                </a:solidFill>
              </a:rPr>
              <a:t>19,770 real order events published to the cloud topic and consumed into BigQuery.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0242B"/>
                </a:solidFill>
              </a:rPr>
              <a:t>500 real cloud decisions, every one independently verified.</a:t>
            </a:r>
          </a:p>
          <a:p>
            <a:pPr lvl="1">
              <a:spcAft>
                <a:spcPts val="1400"/>
              </a:spcAft>
            </a:pPr>
            <a:r>
              <a:rPr sz="1600">
                <a:solidFill>
                  <a:srgbClr val="5F6368"/>
                </a:solidFill>
              </a:rPr>
              <a:t>A separate script recomputed each decision from warehouse facts. 500 out of 500 matched. 496 no action, 4 customer outreach drafts.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0242B"/>
                </a:solidFill>
              </a:rPr>
              <a:t>Nothing is ever sent automatically.</a:t>
            </a:r>
          </a:p>
          <a:p>
            <a:pPr lvl="1">
              <a:spcAft>
                <a:spcPts val="1400"/>
              </a:spcAft>
            </a:pPr>
            <a:r>
              <a:rPr sz="1600">
                <a:solidFill>
                  <a:srgbClr val="5F6368"/>
                </a:solidFill>
              </a:rPr>
              <a:t>The agent drafts messages for human approval. Dry-run only, by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368"/>
                </a:solidFill>
              </a:defRPr>
            </a:pPr>
            <a:r>
              <a:t>Evidence: evals/streaming/pubsub_cloud.json, evals/agent/verify_audit_500.json, gcp/verify_agent_audit.py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10728655" y="6217920"/>
            <a:ext cx="1188720" cy="4114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5F6368"/>
                </a:solidFill>
              </a:defRPr>
            </a:pPr>
            <a:r>
              <a:t>Home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A/B testing: the outreach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0242B"/>
                </a:solidFill>
              </a:rPr>
              <a:t>Designed like a real experiment, because it might become one.</a:t>
            </a:r>
          </a:p>
          <a:p>
            <a:pPr lvl="1">
              <a:spcAft>
                <a:spcPts val="1400"/>
              </a:spcAft>
            </a:pPr>
            <a:r>
              <a:rPr sz="1600">
                <a:solidFill>
                  <a:srgbClr val="5F6368"/>
                </a:solidFill>
              </a:rPr>
              <a:t>Customer-level randomization (not order-level), sticky assignment, 50/50 split.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0242B"/>
                </a:solidFill>
              </a:rPr>
              <a:t>Sample size calibrated on the real data: about 750 per arm.</a:t>
            </a:r>
          </a:p>
          <a:p>
            <a:pPr lvl="1">
              <a:spcAft>
                <a:spcPts val="1400"/>
              </a:spcAft>
            </a:pPr>
            <a:r>
              <a:rPr sz="1600">
                <a:solidFill>
                  <a:srgbClr val="5F6368"/>
                </a:solidFill>
              </a:rPr>
              <a:t>Simulation on the actual score distribution showed the naive textbook number was too small.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0242B"/>
                </a:solidFill>
              </a:rPr>
              <a:t>Sequential monitoring done correctly.</a:t>
            </a:r>
          </a:p>
          <a:p>
            <a:pPr lvl="1">
              <a:spcAft>
                <a:spcPts val="1400"/>
              </a:spcAft>
            </a:pPr>
            <a:r>
              <a:rPr sz="1600">
                <a:solidFill>
                  <a:srgbClr val="5F6368"/>
                </a:solidFill>
              </a:rPr>
              <a:t>O'Brien-Fleming boundaries hold the false positive rate at 5%. Naive repeated testing would hit 13%.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0242B"/>
                </a:solidFill>
              </a:rPr>
              <a:t>Status: designed and validated. Never run live. No uplift claimed.</a:t>
            </a:r>
          </a:p>
          <a:p>
            <a:pPr lvl="1">
              <a:spcAft>
                <a:spcPts val="1400"/>
              </a:spcAft>
            </a:pPr>
            <a:r>
              <a:rPr sz="1600">
                <a:solidFill>
                  <a:srgbClr val="5F6368"/>
                </a:solidFill>
              </a:rPr>
              <a:t>The module exists to prove experimental rigor, not to invent business impact.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10728655" y="6217920"/>
            <a:ext cx="1188720" cy="4114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5F6368"/>
                </a:solidFill>
              </a:defRPr>
            </a:pPr>
            <a:r>
              <a:t>Home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0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4747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73E8"/>
                </a:solidFill>
              </a:defRPr>
            </a:pPr>
            <a:r>
              <a:t>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</a:defRPr>
            </a:pPr>
            <a:r>
              <a:t>•  BigQuery</a:t>
            </a:r>
            <a:br/>
            <a:r>
              <a:t>•  Pub/Sub</a:t>
            </a:r>
            <a:br/>
            <a:r>
              <a:t>•  Cloud Storage</a:t>
            </a:r>
            <a:br/>
            <a:r>
              <a:t>•  Vertex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4747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A853"/>
                </a:solidFill>
              </a:defRPr>
            </a:pPr>
            <a:r>
              <a:t>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</a:defRPr>
            </a:pPr>
            <a:r>
              <a:t>•  scikit-learn</a:t>
            </a:r>
            <a:br/>
            <a:r>
              <a:t>•  BigQuery ML</a:t>
            </a:r>
            <a:br/>
            <a:r>
              <a:t>•  HistGradientBoosting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1463040"/>
            <a:ext cx="34747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39" y="1600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A1B9A"/>
                </a:solidFill>
              </a:defRPr>
            </a:pPr>
            <a:r>
              <a:t>Computer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39" y="2103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</a:defRPr>
            </a:pPr>
            <a:r>
              <a:t>•  OpenCV</a:t>
            </a:r>
            <a:br/>
            <a:r>
              <a:t>•  Vertex AI AutoML</a:t>
            </a:r>
            <a:br/>
            <a:r>
              <a:t>•  Gemini 2.5 Flash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49039"/>
            <a:ext cx="34747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8619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88"/>
                </a:solidFill>
              </a:defRPr>
            </a:pPr>
            <a:r>
              <a:t>Agentic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89119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</a:defRPr>
            </a:pPr>
            <a:r>
              <a:t>•  Policy engine</a:t>
            </a:r>
            <a:br/>
            <a:r>
              <a:t>•  Dry-run eval</a:t>
            </a:r>
            <a:br/>
            <a:r>
              <a:t>•  Audit logging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749039"/>
            <a:ext cx="34747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88619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BC04"/>
                </a:solidFill>
              </a:defRPr>
            </a:pPr>
            <a:r>
              <a:t>Experimentation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19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</a:defRPr>
            </a:pPr>
            <a:r>
              <a:t>•  Power analysis</a:t>
            </a:r>
            <a:br/>
            <a:r>
              <a:t>•  Permutation tests</a:t>
            </a:r>
            <a:br/>
            <a:r>
              <a:t>•  Sequential monitoring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9" y="3749039"/>
            <a:ext cx="34747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39" y="388619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F6368"/>
                </a:solidFill>
              </a:defRPr>
            </a:pPr>
            <a:r>
              <a:t>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9" y="4389119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42B"/>
                </a:solidFill>
              </a:defRPr>
            </a:pPr>
            <a:r>
              <a:t>•  Python 3.10+</a:t>
            </a:r>
            <a:br/>
            <a:r>
              <a:t>•  pytest (31 tests)</a:t>
            </a:r>
            <a:br/>
            <a:r>
              <a:t>•  Docker</a:t>
            </a:r>
            <a:br/>
            <a:r>
              <a:t>•  GitHub Actions</a:t>
            </a:r>
          </a:p>
        </p:txBody>
      </p:sp>
      <p:sp>
        <p:nvSpPr>
          <p:cNvPr id="21" name="Rounded Rectangle 20">
            <a:hlinkClick action="ppaction://hlinksldjump" r:id="rId2"/>
          </p:cNvPr>
          <p:cNvSpPr/>
          <p:nvPr/>
        </p:nvSpPr>
        <p:spPr>
          <a:xfrm>
            <a:off x="10728655" y="6217920"/>
            <a:ext cx="1188720" cy="4114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5F6368"/>
                </a:solidFill>
              </a:defRPr>
            </a:pPr>
            <a:r>
              <a:t>Home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Honest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0242B"/>
                </a:solidFill>
              </a:rPr>
              <a:t>Historical data, not live operations.</a:t>
            </a:r>
          </a:p>
          <a:p>
            <a:pPr lvl="1">
              <a:spcAft>
                <a:spcPts val="1400"/>
              </a:spcAft>
            </a:pPr>
            <a:r>
              <a:rPr sz="1600">
                <a:solidFill>
                  <a:srgbClr val="5F6368"/>
                </a:solidFill>
              </a:rPr>
              <a:t>Olist 2016 to 2018, Amazon 2018 routes. The platform replays history; it has never touched a live delivery.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0242B"/>
                </a:solidFill>
              </a:rPr>
              <a:t>The agent never contacted anyone.</a:t>
            </a:r>
          </a:p>
          <a:p>
            <a:pPr lvl="1">
              <a:spcAft>
                <a:spcPts val="1400"/>
              </a:spcAft>
            </a:pPr>
            <a:r>
              <a:rPr sz="1600">
                <a:solidFill>
                  <a:srgbClr val="5F6368"/>
                </a:solidFill>
              </a:rPr>
              <a:t>All decisions were dry runs. Auto-send needs human-in-the-loop tooling this project does not claim.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0242B"/>
                </a:solidFill>
              </a:rPr>
              <a:t>Some treatment effects are simulated.</a:t>
            </a:r>
          </a:p>
          <a:p>
            <a:pPr lvl="1">
              <a:spcAft>
                <a:spcPts val="1400"/>
              </a:spcAft>
            </a:pPr>
            <a:r>
              <a:rPr sz="1600">
                <a:solidFill>
                  <a:srgbClr val="5F6368"/>
                </a:solidFill>
              </a:rPr>
              <a:t>The A/B power analysis simulates the uplift on real data. The design is real; the business impact is not claimed.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0242B"/>
                </a:solidFill>
              </a:rPr>
              <a:t>Modest risk models, clearly labeled as triage signals.</a:t>
            </a:r>
          </a:p>
          <a:p>
            <a:pPr lvl="1">
              <a:spcAft>
                <a:spcPts val="1400"/>
              </a:spcAft>
            </a:pPr>
            <a:r>
              <a:rPr sz="1600">
                <a:solidFill>
                  <a:srgbClr val="5F6368"/>
                </a:solidFill>
              </a:rPr>
              <a:t>ROC-AUC around 0.6. The methodology is the point, not the score.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0242B"/>
                </a:solidFill>
              </a:rPr>
              <a:t>Datasets are never falsely joined.</a:t>
            </a:r>
          </a:p>
          <a:p>
            <a:pPr lvl="1">
              <a:spcAft>
                <a:spcPts val="1400"/>
              </a:spcAft>
            </a:pPr>
            <a:r>
              <a:rPr sz="1600">
                <a:solidFill>
                  <a:srgbClr val="5F6368"/>
                </a:solidFill>
              </a:rPr>
              <a:t>Four datasets, four companies, four contexts. Cross-module demos are labeled as controlled scenarios.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368"/>
                </a:solidFill>
              </a:defRPr>
            </a:pPr>
            <a:r>
              <a:t>Every number in this deck traces to a script in the repo or a resource in GCP project delivery-experience-511901.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10728655" y="6217920"/>
            <a:ext cx="1188720" cy="4114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5F6368"/>
                </a:solidFill>
              </a:defRPr>
            </a:pPr>
            <a:r>
              <a:t>Home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Real data. Real cloud. Real measurements.</a:t>
            </a:r>
            <a:br/>
            <a:r>
              <a:t>Every claim verified, every limit stated.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Anum Sagheer  |  github.com/anumsagheer01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10728655" y="6217920"/>
            <a:ext cx="1188720" cy="41148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5F6368"/>
                </a:solidFill>
              </a:defRPr>
            </a:pPr>
            <a:r>
              <a:t>Home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